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2" r:id="rId2"/>
  </p:sldMasterIdLst>
  <p:notesMasterIdLst>
    <p:notesMasterId r:id="rId15"/>
  </p:notesMasterIdLst>
  <p:sldIdLst>
    <p:sldId id="269" r:id="rId3"/>
    <p:sldId id="257" r:id="rId4"/>
    <p:sldId id="258" r:id="rId5"/>
    <p:sldId id="259" r:id="rId6"/>
    <p:sldId id="260" r:id="rId7"/>
    <p:sldId id="261" r:id="rId8"/>
    <p:sldId id="262" r:id="rId9"/>
    <p:sldId id="271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C25C665-BD8D-7E75-5078-0F6C2B23C219}">
          <p14:sldIdLst>
            <p14:sldId id="269"/>
            <p14:sldId id="257"/>
          </p14:sldIdLst>
        </p14:section>
        <p14:section name="Data" id="{C1846E37-70EF-67CC-361B-509142863F68}">
          <p14:sldIdLst>
            <p14:sldId id="258"/>
          </p14:sldIdLst>
        </p14:section>
        <p14:section name="Topics" id="{400909E1-0457-B9E8-96CD-AE2E8B842387}">
          <p14:sldIdLst>
            <p14:sldId id="259"/>
            <p14:sldId id="260"/>
            <p14:sldId id="261"/>
          </p14:sldIdLst>
        </p14:section>
        <p14:section name="Sentiment" id="{6BA9F246-6493-AF95-B50A-BF5487D474F0}">
          <p14:sldIdLst>
            <p14:sldId id="262"/>
          </p14:sldIdLst>
        </p14:section>
        <p14:section name="Forecasting" id="{FCCB2C26-D094-F622-C71C-CD1C2F8F89AF}">
          <p14:sldIdLst>
            <p14:sldId id="271"/>
            <p14:sldId id="264"/>
            <p14:sldId id="265"/>
          </p14:sldIdLst>
        </p14:section>
        <p14:section name="Wrap-up" id="{4AB9B9B4-780B-A1DE-35B4-BE8EB56B8EA8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068" autoAdjust="0"/>
  </p:normalViewPr>
  <p:slideViewPr>
    <p:cSldViewPr snapToGrid="0" snapToObjects="1">
      <p:cViewPr varScale="1">
        <p:scale>
          <a:sx n="91" d="100"/>
          <a:sy n="91" d="100"/>
        </p:scale>
        <p:origin x="11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 Seekoei" userId="5cd97172-3852-49af-8306-d2ebfcee1467" providerId="ADAL" clId="{F170910B-33A3-4DE8-811C-360890EDEC9F}"/>
    <pc:docChg chg="modSld">
      <pc:chgData name="R Seekoei" userId="5cd97172-3852-49af-8306-d2ebfcee1467" providerId="ADAL" clId="{F170910B-33A3-4DE8-811C-360890EDEC9F}" dt="2026-10-05T04:07:29.436" v="1" actId="404"/>
      <pc:docMkLst>
        <pc:docMk/>
      </pc:docMkLst>
      <pc:sldChg chg="modSp mod">
        <pc:chgData name="R Seekoei" userId="5cd97172-3852-49af-8306-d2ebfcee1467" providerId="ADAL" clId="{F170910B-33A3-4DE8-811C-360890EDEC9F}" dt="2026-10-05T04:07:29.436" v="1" actId="404"/>
        <pc:sldMkLst>
          <pc:docMk/>
          <pc:sldMk cId="0" sldId="261"/>
        </pc:sldMkLst>
        <pc:spChg chg="mod">
          <ac:chgData name="R Seekoei" userId="5cd97172-3852-49af-8306-d2ebfcee1467" providerId="ADAL" clId="{F170910B-33A3-4DE8-811C-360890EDEC9F}" dt="2026-10-05T04:07:29.436" v="1" actId="404"/>
          <ac:spMkLst>
            <pc:docMk/>
            <pc:sldMk cId="0" sldId="261"/>
            <ac:spMk id="1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lang="en-GB" sz="1200" b="0" i="0" u="none" strike="noStrike">
                <a:solidFill>
                  <a:srgbClr val="1B1F2A"/>
                </a:solidFill>
                <a:latin typeface="+mn-lt"/>
              </a:rPr>
              <a:t>Share of 26,000-tweet training sample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sample (%)</c:v>
                </c:pt>
              </c:strCache>
            </c:strRef>
          </c:tx>
          <c:spPr>
            <a:solidFill>
              <a:srgbClr val="F7931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F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Coinhunt gaming</c:v>
                </c:pt>
                <c:pt idx="1">
                  <c:v>Mining / block rewards</c:v>
                </c:pt>
                <c:pt idx="2">
                  <c:v>Cardano price alerts</c:v>
                </c:pt>
                <c:pt idx="3">
                  <c:v>Lightning / faucets</c:v>
                </c:pt>
                <c:pt idx="4">
                  <c:v>Whale / volume alerts</c:v>
                </c:pt>
                <c:pt idx="5">
                  <c:v>Airdrops / campaigns</c:v>
                </c:pt>
                <c:pt idx="6">
                  <c:v>Crypto news</c:v>
                </c:pt>
                <c:pt idx="7">
                  <c:v>NFTs / metaverse / memes</c:v>
                </c:pt>
                <c:pt idx="8">
                  <c:v>Trading / markets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1.33</c:v>
                </c:pt>
                <c:pt idx="1">
                  <c:v>1.75</c:v>
                </c:pt>
                <c:pt idx="2">
                  <c:v>2.23</c:v>
                </c:pt>
                <c:pt idx="3">
                  <c:v>2.27</c:v>
                </c:pt>
                <c:pt idx="4">
                  <c:v>2.42</c:v>
                </c:pt>
                <c:pt idx="5">
                  <c:v>10.42</c:v>
                </c:pt>
                <c:pt idx="6">
                  <c:v>15.12</c:v>
                </c:pt>
                <c:pt idx="7">
                  <c:v>22.33</c:v>
                </c:pt>
                <c:pt idx="8">
                  <c:v>42.13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FB-4EA6-B71D-277A45AEF9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>
              <a:solidFill>
                <a:schemeClr val="tx1">
                  <a:alpha val="69000"/>
                </a:schemeClr>
              </a:solidFill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lang="en-GB" sz="1200" b="0" i="0" u="none" strike="noStrike">
                <a:solidFill>
                  <a:srgbClr val="1B1F2A"/>
                </a:solidFill>
                <a:latin typeface="+mn-lt"/>
              </a:rPr>
              <a:t>Test MAE (percentage points, 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regression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Market</c:v>
                </c:pt>
                <c:pt idx="1">
                  <c:v>+ Volume</c:v>
                </c:pt>
                <c:pt idx="2">
                  <c:v>+ Volume + Sentiment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1.1339999999999999</c:v>
                </c:pt>
                <c:pt idx="1">
                  <c:v>1.1664000000000001</c:v>
                </c:pt>
                <c:pt idx="2">
                  <c:v>1.1715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FD-448B-9D8B-79C4AB6850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F7931A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Market</c:v>
                </c:pt>
                <c:pt idx="1">
                  <c:v>+ Volume</c:v>
                </c:pt>
                <c:pt idx="2">
                  <c:v>+ Volume + Sentiment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1.2924</c:v>
                </c:pt>
                <c:pt idx="1">
                  <c:v>1.2262</c:v>
                </c:pt>
                <c:pt idx="2">
                  <c:v>1.1572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FD-448B-9D8B-79C4AB6850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5"/>
          <c:min val="0"/>
        </c:scaling>
        <c:delete val="0"/>
        <c:axPos val="l"/>
        <c:majorGridlines>
          <c:spPr>
            <a:ln w="6350" cap="flat">
              <a:solidFill>
                <a:srgbClr val="E3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F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8113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modelling summarises what is discussed; sentiment tests whether outlook adds predictive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sample answers a different question. Topic training, sentiment scoring and forecasting use different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NMF has less negative coherence and more distinct keywords. Its lower balance reflects one broad trading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Trading is 42%, NFTs/metaverse/meme coins 22%, general crypto news 15%. The rest are promotions and automated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Patterns are read qualitatively. A higher share does not necessarily mean more tweets, and March 2025 is a partial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CryptoBERT agreed with human labels on 43 of 100 tweets, below the 46% from always guessing the most common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8501E-F305-BD72-0E43-3906A18AF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B2FF6-7B69-1D02-0EB7-9C133F994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684B4-6611-F138-8424-822BC4382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200 origins for every model. Chronological split, no random shuffling. Target is the absolute log return of the next 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ED444-D2AB-4BB9-3A78-DFB9C2E6E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963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Market-only regression has the best MAE (1.134). Regression with volume has the best RMSE (1.594). Persistence is worst.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Forest MAE improves 5.6% but RMSE only 0.04%. Both regression models get slightly worse. Volume correlates more with next-day movement than sentiment.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NMF is useful descriptively; sentiment is an experimental input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are proposed extensions, not completed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958763A5-F3DB-4031-ACCD-FF225DF66CF1}"/>
              </a:ext>
            </a:extLst>
          </p:cNvPr>
          <p:cNvSpPr>
            <a:spLocks noGrp="1"/>
          </p:cNvSpPr>
          <p:nvPr/>
        </p:nvSpPr>
        <p:spPr>
          <a:xfrm>
            <a:off x="4343400" y="1657350"/>
            <a:ext cx="457200" cy="28575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25049B1-F3DE-479F-BC7C-E4A67FE0F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3100"/>
            <a:ext cx="7315200" cy="7429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7355DB5-B6CE-4F94-BC14-DF74A9E8C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828925"/>
            <a:ext cx="6400800" cy="571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64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A1174E99-EE57-4F24-94E9-ABD02EA64E99}"/>
              </a:ext>
            </a:extLst>
          </p:cNvPr>
          <p:cNvSpPr>
            <a:spLocks noGrp="1"/>
          </p:cNvSpPr>
          <p:nvPr/>
        </p:nvSpPr>
        <p:spPr>
          <a:xfrm>
            <a:off x="4343400" y="1857375"/>
            <a:ext cx="457200" cy="28575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3EE79B3-B7FC-4B62-A3D4-0A5458EE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143125"/>
            <a:ext cx="7315200" cy="857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063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735E173C-3568-4FC9-9150-66A0558B4B05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457200" cy="28575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EEC9FCA-469F-4610-9243-F7BF543F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9DA3EE5F-F6B7-4BE2-82EC-29E10F6AF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428750"/>
            <a:ext cx="81153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1630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8B2E909B-9330-4F43-A563-7E16F144153B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457200" cy="28575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3FB8EF-036D-4CEF-8320-E26D4CFC3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66F00EE9-9B17-4B62-80DA-3E9F925EB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A930E8C7-5C1B-4539-84D7-B43B6E8A690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428750"/>
            <a:ext cx="37719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6827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32AF861B-5930-4059-AC76-82879E77D650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457200" cy="28575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6E2F55C-D039-49DE-A50B-F0B1069B1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DFA5C279-34BE-4E23-A33E-B57CF7320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8227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8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495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>
        <a:lnSpc>
          <a:spcPct val="90000"/>
        </a:lnSpc>
        <a:spcBef>
          <a:spcPts val="750"/>
        </a:spcBef>
        <a:buChar char="•"/>
        <a:defRPr sz="21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>
        <a:lnSpc>
          <a:spcPct val="90000"/>
        </a:lnSpc>
        <a:spcBef>
          <a:spcPts val="375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>
        <a:lnSpc>
          <a:spcPct val="90000"/>
        </a:lnSpc>
        <a:spcBef>
          <a:spcPts val="375"/>
        </a:spcBef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29" y="0"/>
            <a:ext cx="9139142" cy="5143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DCF2CB7-6395-4341-946F-21D87662594B}"/>
              </a:ext>
            </a:extLst>
          </p:cNvPr>
          <p:cNvSpPr>
            <a:spLocks noGrp="1"/>
          </p:cNvSpPr>
          <p:nvPr/>
        </p:nvSpPr>
        <p:spPr>
          <a:xfrm>
            <a:off x="457200" y="1057275"/>
            <a:ext cx="5357813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defTabSz="685800"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endParaRPr sz="360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5D783-94EE-420C-BE71-FBDB725BF938}"/>
              </a:ext>
            </a:extLst>
          </p:cNvPr>
          <p:cNvSpPr>
            <a:spLocks noGrp="1"/>
          </p:cNvSpPr>
          <p:nvPr/>
        </p:nvSpPr>
        <p:spPr>
          <a:xfrm>
            <a:off x="457200" y="1447412"/>
            <a:ext cx="5286375" cy="10715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Modelling, Sentiment Polarity and Bitcoin Volatility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D6653C-F8F8-45B4-AA4A-A27C98D05576}"/>
              </a:ext>
            </a:extLst>
          </p:cNvPr>
          <p:cNvSpPr>
            <a:spLocks noGrp="1"/>
          </p:cNvSpPr>
          <p:nvPr/>
        </p:nvSpPr>
        <p:spPr>
          <a:xfrm>
            <a:off x="457200" y="3624607"/>
            <a:ext cx="5143500" cy="3071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defTabSz="685800">
              <a:defRPr sz="1875" b="0">
                <a:solidFill>
                  <a:srgbClr val="A4D3D5"/>
                </a:solidFill>
                <a:latin typeface="DejaVu Sans"/>
                <a:ea typeface="DejaVu Sans"/>
                <a:cs typeface="DejaVu Sans"/>
              </a:defRPr>
            </a:pPr>
            <a:r>
              <a:rPr sz="1406" dirty="0">
                <a:solidFill>
                  <a:srgbClr val="A4D3D5"/>
                </a:solidFill>
                <a:latin typeface="DejaVu Sans"/>
                <a:ea typeface="DejaVu Sans"/>
                <a:cs typeface="DejaVu Sans"/>
              </a:rPr>
              <a:t>EDAB6808 Assignment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175FAB-9F65-433F-A1A0-DCE6773864FF}"/>
              </a:ext>
            </a:extLst>
          </p:cNvPr>
          <p:cNvSpPr>
            <a:spLocks noGrp="1"/>
          </p:cNvSpPr>
          <p:nvPr/>
        </p:nvSpPr>
        <p:spPr>
          <a:xfrm>
            <a:off x="457200" y="3886200"/>
            <a:ext cx="5286375" cy="60721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defTabSz="685800"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en-ZA" sz="135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Mamello</a:t>
            </a:r>
            <a:r>
              <a:rPr lang="en-ZA" sz="135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en-ZA" sz="135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Malape</a:t>
            </a:r>
            <a:r>
              <a:rPr lang="en-ZA" sz="135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(2023232750)</a:t>
            </a:r>
          </a:p>
          <a:p>
            <a:pPr defTabSz="685800"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Reatile Seekoei  (2021109463)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46CDE1-809A-5C1E-A46C-642E75117069}"/>
              </a:ext>
            </a:extLst>
          </p:cNvPr>
          <p:cNvSpPr txBox="1"/>
          <p:nvPr/>
        </p:nvSpPr>
        <p:spPr>
          <a:xfrm>
            <a:off x="369518" y="2571750"/>
            <a:ext cx="6908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dirty="0">
                <a:solidFill>
                  <a:schemeClr val="bg1"/>
                </a:solidFill>
              </a:rPr>
              <a:t>Do Bitcoin tweets help predict next-day price movement?</a:t>
            </a:r>
            <a:endParaRPr lang="en-ZA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598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Two questions, two uses of text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304799" y="1018846"/>
            <a:ext cx="3878579" cy="1481467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ZA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056BB4-39B4-304A-B435-D5B66F5C96C3}"/>
              </a:ext>
            </a:extLst>
          </p:cNvPr>
          <p:cNvGrpSpPr/>
          <p:nvPr/>
        </p:nvGrpSpPr>
        <p:grpSpPr>
          <a:xfrm>
            <a:off x="350518" y="1060642"/>
            <a:ext cx="381000" cy="365760"/>
            <a:chOff x="777240" y="1554480"/>
            <a:chExt cx="640080" cy="640080"/>
          </a:xfrm>
        </p:grpSpPr>
        <p:sp>
          <p:nvSpPr>
            <p:cNvPr id="5" name="Number badge 1"/>
            <p:cNvSpPr/>
            <p:nvPr/>
          </p:nvSpPr>
          <p:spPr>
            <a:xfrm>
              <a:off x="777240" y="1554480"/>
              <a:ext cx="640080" cy="640080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Text 3"/>
            <p:cNvSpPr txBox="1"/>
            <p:nvPr/>
          </p:nvSpPr>
          <p:spPr>
            <a:xfrm>
              <a:off x="777240" y="1554480"/>
              <a:ext cx="640080" cy="5729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chemeClr val="bg1"/>
                  </a:solidFill>
                </a:rPr>
                <a:t>1</a:t>
              </a:r>
              <a:endParaRPr lang="en-US" sz="2400" dirty="0"/>
            </a:p>
          </p:txBody>
        </p:sp>
      </p:grpSp>
      <p:sp>
        <p:nvSpPr>
          <p:cNvPr id="7" name="Text 4"/>
          <p:cNvSpPr txBox="1"/>
          <p:nvPr/>
        </p:nvSpPr>
        <p:spPr>
          <a:xfrm>
            <a:off x="800098" y="112119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themes dominate, and how do they change?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552448" y="1628805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chemeClr val="tx1"/>
                </a:solidFill>
              </a:rPr>
              <a:t>Topic modelling </a:t>
            </a:r>
            <a:r>
              <a:rPr lang="en-GB" sz="1400" dirty="0"/>
              <a:t>identifies recurring themes in the corpus and tracks how their share changes over the specified</a:t>
            </a:r>
            <a:r>
              <a:rPr lang="en-US" sz="1400" dirty="0">
                <a:solidFill>
                  <a:schemeClr val="tx1"/>
                </a:solidFill>
              </a:rPr>
              <a:t> timestamps.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The analysis is observational: associations are reported, not causal effects.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9FEC63F7-64C7-E425-E747-1AB48837B81D}"/>
              </a:ext>
            </a:extLst>
          </p:cNvPr>
          <p:cNvSpPr txBox="1"/>
          <p:nvPr/>
        </p:nvSpPr>
        <p:spPr>
          <a:xfrm>
            <a:off x="1257300" y="1091375"/>
            <a:ext cx="381000" cy="327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9" name="Question card 2"/>
          <p:cNvSpPr/>
          <p:nvPr/>
        </p:nvSpPr>
        <p:spPr>
          <a:xfrm>
            <a:off x="4663439" y="1005840"/>
            <a:ext cx="4175761" cy="1481466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 txBox="1"/>
          <p:nvPr/>
        </p:nvSpPr>
        <p:spPr>
          <a:xfrm>
            <a:off x="5277514" y="108385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sentiment add value to volatility forecasts?</a:t>
            </a:r>
          </a:p>
        </p:txBody>
      </p:sp>
      <p:sp>
        <p:nvSpPr>
          <p:cNvPr id="13" name="Text 10"/>
          <p:cNvSpPr txBox="1"/>
          <p:nvPr/>
        </p:nvSpPr>
        <p:spPr>
          <a:xfrm>
            <a:off x="4907279" y="1628805"/>
            <a:ext cx="368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Tests whether estimated daily sentiment improves next-day volatility forecasts once market data and tweet volume are controlled for.</a:t>
            </a:r>
            <a:endParaRPr lang="en-US" sz="14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8798B28-59B5-8197-D9F6-A6095822B09B}"/>
              </a:ext>
            </a:extLst>
          </p:cNvPr>
          <p:cNvGrpSpPr/>
          <p:nvPr/>
        </p:nvGrpSpPr>
        <p:grpSpPr>
          <a:xfrm>
            <a:off x="4800600" y="1005840"/>
            <a:ext cx="381000" cy="461665"/>
            <a:chOff x="693420" y="1073765"/>
            <a:chExt cx="381000" cy="461665"/>
          </a:xfrm>
        </p:grpSpPr>
        <p:sp>
          <p:nvSpPr>
            <p:cNvPr id="22" name="Number badge 1">
              <a:extLst>
                <a:ext uri="{FF2B5EF4-FFF2-40B4-BE49-F238E27FC236}">
                  <a16:creationId xmlns:a16="http://schemas.microsoft.com/office/drawing/2014/main" id="{F27189C6-C852-2E3F-3EF9-A03FDDACB0D2}"/>
                </a:ext>
              </a:extLst>
            </p:cNvPr>
            <p:cNvSpPr/>
            <p:nvPr/>
          </p:nvSpPr>
          <p:spPr>
            <a:xfrm>
              <a:off x="693420" y="1119624"/>
              <a:ext cx="381000" cy="365760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n-ZA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8FC8975-BA2B-6C23-1B83-BAF5C79D16BA}"/>
                </a:ext>
              </a:extLst>
            </p:cNvPr>
            <p:cNvSpPr txBox="1"/>
            <p:nvPr/>
          </p:nvSpPr>
          <p:spPr>
            <a:xfrm>
              <a:off x="728472" y="1073765"/>
              <a:ext cx="31089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2</a:t>
              </a:r>
              <a:endParaRPr lang="en-ZA" dirty="0"/>
            </a:p>
          </p:txBody>
        </p:sp>
      </p:grp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DA1CA4EB-4AB6-69DE-D46F-698918EB3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948560"/>
              </p:ext>
            </p:extLst>
          </p:nvPr>
        </p:nvGraphicFramePr>
        <p:xfrm>
          <a:off x="548640" y="2643186"/>
          <a:ext cx="8229600" cy="1243014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3417299865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586437555"/>
                    </a:ext>
                  </a:extLst>
                </a:gridCol>
                <a:gridCol w="2657475">
                  <a:extLst>
                    <a:ext uri="{9D8B030D-6E8A-4147-A177-3AD203B41FA5}">
                      <a16:colId xmlns:a16="http://schemas.microsoft.com/office/drawing/2014/main" val="2244488659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chemeClr val="tx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Purpose</a:t>
                      </a:r>
                    </a:p>
                  </a:txBody>
                  <a:tcPr marL="68580" marR="68580" marT="34290" marB="3429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chemeClr val="tx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Preparation</a:t>
                      </a:r>
                    </a:p>
                  </a:txBody>
                  <a:tcPr marL="68580" marR="68580" marT="34290" marB="3429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chemeClr val="tx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Sample</a:t>
                      </a:r>
                    </a:p>
                  </a:txBody>
                  <a:tcPr marL="68580" marR="68580" marT="34290" marB="3429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33448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3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Topic modelling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3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Clean URLs, mentions and stop words.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3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26,000 unique English texts</a:t>
                      </a: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656658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3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Sentiment</a:t>
                      </a:r>
                    </a:p>
                  </a:txBody>
                  <a:tcPr marL="68580" marR="68580" marT="34290" marB="34290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3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Retain negation, punctuation and emoji.</a:t>
                      </a:r>
                    </a:p>
                  </a:txBody>
                  <a:tcPr marL="68580" marR="68580" marT="34290" marB="34290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033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40,083 scored tweets</a:t>
                      </a:r>
                    </a:p>
                  </a:txBody>
                  <a:tcPr marL="68580" marR="68580" marT="34290" marB="34290" anchor="ctr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1374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One corpus, several different samples</a:t>
            </a:r>
            <a:endParaRPr lang="en-US" sz="3000" dirty="0"/>
          </a:p>
        </p:txBody>
      </p:sp>
      <p:sp>
        <p:nvSpPr>
          <p:cNvPr id="4" name="Stat card 1"/>
          <p:cNvSpPr/>
          <p:nvPr/>
        </p:nvSpPr>
        <p:spPr>
          <a:xfrm>
            <a:off x="457200" y="1280160"/>
            <a:ext cx="1920240" cy="2103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 txBox="1"/>
          <p:nvPr/>
        </p:nvSpPr>
        <p:spPr>
          <a:xfrm>
            <a:off x="594360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4.69M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tweets retained after 109 exclusions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2560320" y="1280160"/>
            <a:ext cx="1920240" cy="2103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 txBox="1"/>
          <p:nvPr/>
        </p:nvSpPr>
        <p:spPr>
          <a:xfrm>
            <a:off x="2697480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26,000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2697480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unique English tweets used to fit topics (2,000 per month)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4663440" y="1280160"/>
            <a:ext cx="1920240" cy="2103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 txBox="1"/>
          <p:nvPr/>
        </p:nvSpPr>
        <p:spPr>
          <a:xfrm>
            <a:off x="4800600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40,083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tweets scored for sentiment (up to 200 per day)</a:t>
            </a:r>
            <a:endParaRPr lang="en-US" sz="1400" dirty="0"/>
          </a:p>
        </p:txBody>
      </p:sp>
      <p:sp>
        <p:nvSpPr>
          <p:cNvPr id="13" name="Stat card 4"/>
          <p:cNvSpPr/>
          <p:nvPr/>
        </p:nvSpPr>
        <p:spPr>
          <a:xfrm>
            <a:off x="6766560" y="1280160"/>
            <a:ext cx="1920240" cy="2103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1"/>
          <p:cNvSpPr txBox="1"/>
          <p:nvPr/>
        </p:nvSpPr>
        <p:spPr>
          <a:xfrm>
            <a:off x="6903720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usable forecasting days: 160 train, 40 test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Coverage gap: tweets exist on only 201 of 362 days (6 Mar 2025 – 2 Mar 2026). Some tweet text refers to 2021–2022 despite 2025–26 timestamps, so dates are treated with caution.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037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NMF beat LDA, so nine NMF topics were used</a:t>
            </a:r>
            <a:endParaRPr lang="en-US" sz="30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A850556-D520-31EA-7822-265902B554F6}"/>
              </a:ext>
            </a:extLst>
          </p:cNvPr>
          <p:cNvGrpSpPr/>
          <p:nvPr/>
        </p:nvGrpSpPr>
        <p:grpSpPr>
          <a:xfrm>
            <a:off x="457200" y="1376841"/>
            <a:ext cx="8229600" cy="2514600"/>
            <a:chOff x="457200" y="1280160"/>
            <a:chExt cx="8229600" cy="25146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FD66A51-3D92-C2AC-BD3F-E12065245ADE}"/>
                </a:ext>
              </a:extLst>
            </p:cNvPr>
            <p:cNvGrpSpPr/>
            <p:nvPr/>
          </p:nvGrpSpPr>
          <p:grpSpPr>
            <a:xfrm>
              <a:off x="457200" y="1280160"/>
              <a:ext cx="4023360" cy="2514600"/>
              <a:chOff x="457200" y="1280160"/>
              <a:chExt cx="4023360" cy="2514600"/>
            </a:xfrm>
          </p:grpSpPr>
          <p:sp>
            <p:nvSpPr>
              <p:cNvPr id="4" name="Model card LDA"/>
              <p:cNvSpPr/>
              <p:nvPr/>
            </p:nvSpPr>
            <p:spPr>
              <a:xfrm>
                <a:off x="457200" y="1280160"/>
                <a:ext cx="4023360" cy="2514600"/>
              </a:xfrm>
              <a:prstGeom prst="roundRect">
                <a:avLst>
                  <a:gd name="adj" fmla="val 4364"/>
                </a:avLst>
              </a:prstGeom>
              <a:solidFill>
                <a:schemeClr val="bg2"/>
              </a:solidFill>
              <a:ln/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" name="Text 2"/>
              <p:cNvSpPr txBox="1"/>
              <p:nvPr/>
            </p:nvSpPr>
            <p:spPr>
              <a:xfrm>
                <a:off x="731520" y="1417320"/>
                <a:ext cx="34747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chemeClr val="tx1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LDA</a:t>
                </a:r>
                <a:endParaRPr lang="en-US" sz="2200" dirty="0"/>
              </a:p>
            </p:txBody>
          </p:sp>
          <p:sp>
            <p:nvSpPr>
              <p:cNvPr id="6" name="Text 3"/>
              <p:cNvSpPr txBox="1"/>
              <p:nvPr/>
            </p:nvSpPr>
            <p:spPr>
              <a:xfrm>
                <a:off x="731520" y="1783080"/>
                <a:ext cx="347472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chemeClr val="accent2"/>
                    </a:solidFill>
                  </a:rPr>
                  <a:t>Count vectors</a:t>
                </a:r>
                <a:endParaRPr lang="en-US" sz="1200" dirty="0"/>
              </a:p>
            </p:txBody>
          </p:sp>
          <p:sp>
            <p:nvSpPr>
              <p:cNvPr id="7" name="Text 4"/>
              <p:cNvSpPr txBox="1"/>
              <p:nvPr/>
            </p:nvSpPr>
            <p:spPr>
              <a:xfrm>
                <a:off x="731520" y="2194560"/>
                <a:ext cx="21945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chemeClr val="tx1"/>
                    </a:solidFill>
                  </a:rPr>
                  <a:t>Coherence (higher is better)</a:t>
                </a:r>
                <a:endParaRPr lang="en-US" sz="1400" dirty="0"/>
              </a:p>
            </p:txBody>
          </p:sp>
          <p:sp>
            <p:nvSpPr>
              <p:cNvPr id="8" name="Text 5"/>
              <p:cNvSpPr txBox="1"/>
              <p:nvPr/>
            </p:nvSpPr>
            <p:spPr>
              <a:xfrm>
                <a:off x="2926080" y="2194560"/>
                <a:ext cx="12801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-2.275</a:t>
                </a:r>
                <a:endParaRPr lang="en-US" sz="2000" dirty="0"/>
              </a:p>
            </p:txBody>
          </p:sp>
          <p:sp>
            <p:nvSpPr>
              <p:cNvPr id="9" name="Text 6"/>
              <p:cNvSpPr txBox="1"/>
              <p:nvPr/>
            </p:nvSpPr>
            <p:spPr>
              <a:xfrm>
                <a:off x="731520" y="2697480"/>
                <a:ext cx="21945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chemeClr val="tx1"/>
                    </a:solidFill>
                  </a:rPr>
                  <a:t>Keyword diversity</a:t>
                </a:r>
                <a:endParaRPr lang="en-US" sz="1400" dirty="0"/>
              </a:p>
            </p:txBody>
          </p:sp>
          <p:sp>
            <p:nvSpPr>
              <p:cNvPr id="10" name="Text 7"/>
              <p:cNvSpPr txBox="1"/>
              <p:nvPr/>
            </p:nvSpPr>
            <p:spPr>
              <a:xfrm>
                <a:off x="2926080" y="2697480"/>
                <a:ext cx="12801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0.767</a:t>
                </a:r>
                <a:endParaRPr lang="en-US" sz="2000" dirty="0"/>
              </a:p>
            </p:txBody>
          </p:sp>
          <p:sp>
            <p:nvSpPr>
              <p:cNvPr id="11" name="Text 8"/>
              <p:cNvSpPr txBox="1"/>
              <p:nvPr/>
            </p:nvSpPr>
            <p:spPr>
              <a:xfrm>
                <a:off x="731520" y="3200400"/>
                <a:ext cx="21945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chemeClr val="tx1"/>
                    </a:solidFill>
                  </a:rPr>
                  <a:t>Largest topic</a:t>
                </a:r>
                <a:endParaRPr lang="en-US" sz="1400" dirty="0"/>
              </a:p>
            </p:txBody>
          </p:sp>
          <p:sp>
            <p:nvSpPr>
              <p:cNvPr id="12" name="Text 9"/>
              <p:cNvSpPr txBox="1"/>
              <p:nvPr/>
            </p:nvSpPr>
            <p:spPr>
              <a:xfrm>
                <a:off x="2926080" y="3200400"/>
                <a:ext cx="12801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19.9%</a:t>
                </a:r>
                <a:endParaRPr lang="en-US" sz="2000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A3AD313-56E8-423A-6FE9-786460637D99}"/>
                </a:ext>
              </a:extLst>
            </p:cNvPr>
            <p:cNvGrpSpPr/>
            <p:nvPr/>
          </p:nvGrpSpPr>
          <p:grpSpPr>
            <a:xfrm>
              <a:off x="4663440" y="1280160"/>
              <a:ext cx="4023360" cy="2514600"/>
              <a:chOff x="4663440" y="1280160"/>
              <a:chExt cx="4023360" cy="2514600"/>
            </a:xfrm>
          </p:grpSpPr>
          <p:sp>
            <p:nvSpPr>
              <p:cNvPr id="13" name="Model card NMF (selected)"/>
              <p:cNvSpPr/>
              <p:nvPr/>
            </p:nvSpPr>
            <p:spPr>
              <a:xfrm>
                <a:off x="4663440" y="1280160"/>
                <a:ext cx="4023360" cy="2514600"/>
              </a:xfrm>
              <a:prstGeom prst="roundRect">
                <a:avLst>
                  <a:gd name="adj" fmla="val 4364"/>
                </a:avLst>
              </a:prstGeom>
              <a:solidFill>
                <a:schemeClr val="tx1"/>
              </a:solidFill>
              <a:ln/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4" name="Text 11"/>
              <p:cNvSpPr txBox="1"/>
              <p:nvPr/>
            </p:nvSpPr>
            <p:spPr>
              <a:xfrm>
                <a:off x="4937760" y="1417320"/>
                <a:ext cx="34747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chemeClr val="accent1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NMF (selected)</a:t>
                </a:r>
                <a:endParaRPr lang="en-US" sz="2200" dirty="0"/>
              </a:p>
            </p:txBody>
          </p:sp>
          <p:sp>
            <p:nvSpPr>
              <p:cNvPr id="15" name="Text 12"/>
              <p:cNvSpPr txBox="1"/>
              <p:nvPr/>
            </p:nvSpPr>
            <p:spPr>
              <a:xfrm>
                <a:off x="4937760" y="1783080"/>
                <a:ext cx="347472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chemeClr val="accent4"/>
                    </a:solidFill>
                  </a:rPr>
                  <a:t>TF–IDF</a:t>
                </a:r>
                <a:endParaRPr lang="en-US" sz="1200" dirty="0"/>
              </a:p>
            </p:txBody>
          </p:sp>
          <p:sp>
            <p:nvSpPr>
              <p:cNvPr id="16" name="Text 13"/>
              <p:cNvSpPr txBox="1"/>
              <p:nvPr/>
            </p:nvSpPr>
            <p:spPr>
              <a:xfrm>
                <a:off x="4937760" y="2194560"/>
                <a:ext cx="21945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Coherence (higher is better)</a:t>
                </a:r>
                <a:endParaRPr lang="en-US" sz="1400" dirty="0"/>
              </a:p>
            </p:txBody>
          </p:sp>
          <p:sp>
            <p:nvSpPr>
              <p:cNvPr id="17" name="Text 14"/>
              <p:cNvSpPr txBox="1"/>
              <p:nvPr/>
            </p:nvSpPr>
            <p:spPr>
              <a:xfrm>
                <a:off x="7132320" y="2194560"/>
                <a:ext cx="12801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2000" b="1" dirty="0">
                    <a:solidFill>
                      <a:schemeClr val="bg1"/>
                    </a:solidFill>
                  </a:rPr>
                  <a:t>-1.249</a:t>
                </a:r>
                <a:endParaRPr lang="en-US" sz="2000" dirty="0"/>
              </a:p>
            </p:txBody>
          </p:sp>
          <p:sp>
            <p:nvSpPr>
              <p:cNvPr id="18" name="Text 15"/>
              <p:cNvSpPr txBox="1"/>
              <p:nvPr/>
            </p:nvSpPr>
            <p:spPr>
              <a:xfrm>
                <a:off x="4937760" y="2697480"/>
                <a:ext cx="21945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Keyword diversity</a:t>
                </a:r>
                <a:endParaRPr lang="en-US" sz="1400" dirty="0"/>
              </a:p>
            </p:txBody>
          </p:sp>
          <p:sp>
            <p:nvSpPr>
              <p:cNvPr id="19" name="Text 16"/>
              <p:cNvSpPr txBox="1"/>
              <p:nvPr/>
            </p:nvSpPr>
            <p:spPr>
              <a:xfrm>
                <a:off x="7132320" y="2697480"/>
                <a:ext cx="12801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2000" b="1" dirty="0">
                    <a:solidFill>
                      <a:schemeClr val="bg1"/>
                    </a:solidFill>
                  </a:rPr>
                  <a:t>0.956</a:t>
                </a:r>
                <a:endParaRPr lang="en-US" sz="2000" dirty="0"/>
              </a:p>
            </p:txBody>
          </p:sp>
          <p:sp>
            <p:nvSpPr>
              <p:cNvPr id="20" name="Text 17"/>
              <p:cNvSpPr txBox="1"/>
              <p:nvPr/>
            </p:nvSpPr>
            <p:spPr>
              <a:xfrm>
                <a:off x="4937760" y="3200400"/>
                <a:ext cx="21945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chemeClr val="bg1"/>
                    </a:solidFill>
                  </a:rPr>
                  <a:t>Largest topic</a:t>
                </a:r>
                <a:endParaRPr lang="en-US" sz="1400" dirty="0"/>
              </a:p>
            </p:txBody>
          </p:sp>
          <p:sp>
            <p:nvSpPr>
              <p:cNvPr id="21" name="Text 18"/>
              <p:cNvSpPr txBox="1"/>
              <p:nvPr/>
            </p:nvSpPr>
            <p:spPr>
              <a:xfrm>
                <a:off x="7132320" y="3200400"/>
                <a:ext cx="12801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2000" b="1" dirty="0">
                    <a:solidFill>
                      <a:schemeClr val="bg1"/>
                    </a:solidFill>
                  </a:rPr>
                  <a:t>42.1%</a:t>
                </a:r>
                <a:endParaRPr lang="en-US" sz="2000" dirty="0"/>
              </a:p>
            </p:txBody>
          </p:sp>
        </p:grpSp>
      </p:grpSp>
      <p:sp>
        <p:nvSpPr>
          <p:cNvPr id="22" name="Text 19"/>
          <p:cNvSpPr txBox="1"/>
          <p:nvPr/>
        </p:nvSpPr>
        <p:spPr>
          <a:xfrm>
            <a:off x="368265" y="426244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2"/>
                </a:solidFill>
              </a:rPr>
              <a:t>Nine topics balanced detail, coherence and stability across seeds (tested 5, 7, 9, 11 and 13).</a:t>
            </a:r>
            <a:endParaRPr lang="en-US" sz="1600" i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3150" b="1">
                <a:solidFill>
                  <a:srgbClr val="0C2137"/>
                </a:solidFill>
                <a:latin typeface="DejaVu Sans"/>
                <a:ea typeface="DejaVu Sans"/>
                <a:cs typeface="DejaVu Sans"/>
              </a:defRPr>
            </a:pPr>
            <a:r>
              <a:rPr lang="en-GB" sz="2400" dirty="0">
                <a:solidFill>
                  <a:srgbClr val="0C2137"/>
                </a:solidFill>
                <a:latin typeface="DejaVu Sans"/>
                <a:ea typeface="DejaVu Sans"/>
                <a:cs typeface="DejaVu Sans"/>
              </a:rPr>
              <a:t>Trading dominates the fitted topic sample</a:t>
            </a: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229336174"/>
              </p:ext>
            </p:extLst>
          </p:nvPr>
        </p:nvGraphicFramePr>
        <p:xfrm>
          <a:off x="365760" y="1143000"/>
          <a:ext cx="53949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akeaway card"/>
          <p:cNvSpPr/>
          <p:nvPr/>
        </p:nvSpPr>
        <p:spPr>
          <a:xfrm>
            <a:off x="6035040" y="1280160"/>
            <a:ext cx="2651760" cy="31089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2"/>
          <p:cNvSpPr txBox="1"/>
          <p:nvPr/>
        </p:nvSpPr>
        <p:spPr>
          <a:xfrm>
            <a:off x="626364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6263640" y="18288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Trading, NFTs and crypto news make up 79.6% of the sample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Airdrop spam, faucets and bot alerts are a real share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Shares are for the balanced sample, not the full corpus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28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Topic mix shifted over the collection period</a:t>
            </a:r>
            <a:endParaRPr lang="en-US" sz="30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433C0BA-B034-6AEF-6B1D-E99B295F7FDC}"/>
              </a:ext>
            </a:extLst>
          </p:cNvPr>
          <p:cNvGrpSpPr/>
          <p:nvPr/>
        </p:nvGrpSpPr>
        <p:grpSpPr>
          <a:xfrm>
            <a:off x="6227148" y="788670"/>
            <a:ext cx="2651760" cy="1108710"/>
            <a:chOff x="457200" y="1463040"/>
            <a:chExt cx="2651760" cy="1108710"/>
          </a:xfrm>
        </p:grpSpPr>
        <p:sp>
          <p:nvSpPr>
            <p:cNvPr id="4" name="Trend card 1"/>
            <p:cNvSpPr/>
            <p:nvPr/>
          </p:nvSpPr>
          <p:spPr>
            <a:xfrm>
              <a:off x="457200" y="1463040"/>
              <a:ext cx="2651760" cy="1108710"/>
            </a:xfrm>
            <a:prstGeom prst="roundRect">
              <a:avLst>
                <a:gd name="adj" fmla="val 4800"/>
              </a:avLst>
            </a:prstGeom>
            <a:solidFill>
              <a:schemeClr val="bg2"/>
            </a:solidFill>
            <a:ln/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Text 2"/>
            <p:cNvSpPr txBox="1"/>
            <p:nvPr/>
          </p:nvSpPr>
          <p:spPr>
            <a:xfrm>
              <a:off x="685800" y="150876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chemeClr val="accent2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Trading</a:t>
              </a:r>
              <a:endParaRPr lang="en-US" sz="1800" dirty="0"/>
            </a:p>
          </p:txBody>
        </p:sp>
        <p:sp>
          <p:nvSpPr>
            <p:cNvPr id="6" name="Text 3"/>
            <p:cNvSpPr txBox="1"/>
            <p:nvPr/>
          </p:nvSpPr>
          <p:spPr>
            <a:xfrm>
              <a:off x="685800" y="1920240"/>
              <a:ext cx="2240280" cy="6515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1"/>
                  </a:solidFill>
                </a:rPr>
                <a:t>Largest theme throughout; strongest share around June 2025.</a:t>
              </a:r>
              <a:endParaRPr lang="en-US" sz="14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D7D3FC-E8B0-B0DB-BE7E-A21312DC37AF}"/>
              </a:ext>
            </a:extLst>
          </p:cNvPr>
          <p:cNvGrpSpPr/>
          <p:nvPr/>
        </p:nvGrpSpPr>
        <p:grpSpPr>
          <a:xfrm>
            <a:off x="6227148" y="2034540"/>
            <a:ext cx="2651760" cy="1108710"/>
            <a:chOff x="3291840" y="1463040"/>
            <a:chExt cx="2651760" cy="1108710"/>
          </a:xfrm>
        </p:grpSpPr>
        <p:sp>
          <p:nvSpPr>
            <p:cNvPr id="7" name="Trend card 2"/>
            <p:cNvSpPr/>
            <p:nvPr/>
          </p:nvSpPr>
          <p:spPr>
            <a:xfrm>
              <a:off x="3291840" y="1463040"/>
              <a:ext cx="2651760" cy="1108710"/>
            </a:xfrm>
            <a:prstGeom prst="roundRect">
              <a:avLst>
                <a:gd name="adj" fmla="val 4800"/>
              </a:avLst>
            </a:prstGeom>
            <a:solidFill>
              <a:schemeClr val="bg2"/>
            </a:solidFill>
            <a:ln/>
          </p:spPr>
          <p:txBody>
            <a:bodyPr/>
            <a:lstStyle/>
            <a:p>
              <a:endParaRPr lang="en-ZA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86BA6C1-EEE6-6971-2E38-2908237CA541}"/>
                </a:ext>
              </a:extLst>
            </p:cNvPr>
            <p:cNvGrpSpPr/>
            <p:nvPr/>
          </p:nvGrpSpPr>
          <p:grpSpPr>
            <a:xfrm>
              <a:off x="3397541" y="1508760"/>
              <a:ext cx="2546059" cy="1017270"/>
              <a:chOff x="3397541" y="1508760"/>
              <a:chExt cx="2546059" cy="1017270"/>
            </a:xfrm>
          </p:grpSpPr>
          <p:sp>
            <p:nvSpPr>
              <p:cNvPr id="8" name="Text 5"/>
              <p:cNvSpPr txBox="1"/>
              <p:nvPr/>
            </p:nvSpPr>
            <p:spPr>
              <a:xfrm>
                <a:off x="3520440" y="1508760"/>
                <a:ext cx="21945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accent2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NFTs &amp; meme coins</a:t>
                </a:r>
                <a:endParaRPr lang="en-US" sz="1800" dirty="0"/>
              </a:p>
            </p:txBody>
          </p:sp>
          <p:sp>
            <p:nvSpPr>
              <p:cNvPr id="9" name="Text 6"/>
              <p:cNvSpPr txBox="1"/>
              <p:nvPr/>
            </p:nvSpPr>
            <p:spPr>
              <a:xfrm>
                <a:off x="3397541" y="1874520"/>
                <a:ext cx="2546059" cy="6515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chemeClr val="tx1"/>
                    </a:solidFill>
                  </a:rPr>
                  <a:t>Falls from 32% (Mar) to 26% (Apr), declines into mid-2025, and recovers toward early 2026.</a:t>
                </a:r>
                <a:endParaRPr lang="en-US" sz="1400" dirty="0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4D7BE79-E097-1ECE-29D3-649DD695186E}"/>
              </a:ext>
            </a:extLst>
          </p:cNvPr>
          <p:cNvGrpSpPr/>
          <p:nvPr/>
        </p:nvGrpSpPr>
        <p:grpSpPr>
          <a:xfrm>
            <a:off x="6227148" y="3280410"/>
            <a:ext cx="2651760" cy="1108710"/>
            <a:chOff x="6126480" y="1463040"/>
            <a:chExt cx="2651760" cy="110871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0568075-4831-B924-75DD-7726E1134CDA}"/>
                </a:ext>
              </a:extLst>
            </p:cNvPr>
            <p:cNvGrpSpPr/>
            <p:nvPr/>
          </p:nvGrpSpPr>
          <p:grpSpPr>
            <a:xfrm>
              <a:off x="6126480" y="1463040"/>
              <a:ext cx="2651760" cy="1108710"/>
              <a:chOff x="6126480" y="1463040"/>
              <a:chExt cx="2651760" cy="1108710"/>
            </a:xfrm>
          </p:grpSpPr>
          <p:sp>
            <p:nvSpPr>
              <p:cNvPr id="10" name="Trend card 3"/>
              <p:cNvSpPr/>
              <p:nvPr/>
            </p:nvSpPr>
            <p:spPr>
              <a:xfrm>
                <a:off x="6126480" y="1463040"/>
                <a:ext cx="2651760" cy="1108710"/>
              </a:xfrm>
              <a:prstGeom prst="roundRect">
                <a:avLst>
                  <a:gd name="adj" fmla="val 4800"/>
                </a:avLst>
              </a:prstGeom>
              <a:solidFill>
                <a:schemeClr val="bg2"/>
              </a:solidFill>
              <a:ln/>
            </p:spPr>
            <p:txBody>
              <a:bodyPr/>
              <a:lstStyle/>
              <a:p>
                <a:endParaRPr lang="en-ZA" dirty="0"/>
              </a:p>
            </p:txBody>
          </p:sp>
          <p:sp>
            <p:nvSpPr>
              <p:cNvPr id="11" name="Text 8"/>
              <p:cNvSpPr txBox="1"/>
              <p:nvPr/>
            </p:nvSpPr>
            <p:spPr>
              <a:xfrm>
                <a:off x="6355080" y="1508760"/>
                <a:ext cx="21945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accent2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Airdrops &amp; Cardano</a:t>
                </a:r>
                <a:endParaRPr lang="en-US" sz="1800" dirty="0"/>
              </a:p>
            </p:txBody>
          </p:sp>
        </p:grpSp>
        <p:sp>
          <p:nvSpPr>
            <p:cNvPr id="12" name="Text 9"/>
            <p:cNvSpPr txBox="1"/>
            <p:nvPr/>
          </p:nvSpPr>
          <p:spPr>
            <a:xfrm>
              <a:off x="6355080" y="1828800"/>
              <a:ext cx="2240280" cy="6515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1"/>
                  </a:solidFill>
                </a:rPr>
                <a:t>Airdrops rise around July-August; Cardano alerts spike sharply in September.</a:t>
              </a:r>
              <a:endParaRPr lang="en-US" sz="1400" dirty="0"/>
            </a:p>
          </p:txBody>
        </p:sp>
      </p:grpSp>
      <p:sp>
        <p:nvSpPr>
          <p:cNvPr id="13" name="Text 10"/>
          <p:cNvSpPr txBox="1"/>
          <p:nvPr/>
        </p:nvSpPr>
        <p:spPr>
          <a:xfrm>
            <a:off x="365760" y="4480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Caution: data exist on only 201 of 362 days, and timestamps are unverified, so no historical-event explanations are offered.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8C31D99-60D0-D0D2-4467-0977D84D6E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824"/>
          <a:stretch>
            <a:fillRect/>
          </a:stretch>
        </p:blipFill>
        <p:spPr>
          <a:xfrm>
            <a:off x="447972" y="754380"/>
            <a:ext cx="5251283" cy="36220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The sentiment model failed manual validation</a:t>
            </a:r>
            <a:endParaRPr lang="en-US" sz="3000" dirty="0"/>
          </a:p>
        </p:txBody>
      </p:sp>
      <p:sp>
        <p:nvSpPr>
          <p:cNvPr id="4" name="Validation stats card"/>
          <p:cNvSpPr/>
          <p:nvPr/>
        </p:nvSpPr>
        <p:spPr>
          <a:xfrm>
            <a:off x="457200" y="1280160"/>
            <a:ext cx="384048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 txBox="1"/>
          <p:nvPr/>
        </p:nvSpPr>
        <p:spPr>
          <a:xfrm>
            <a:off x="731520" y="1417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agreement with human labels (100 tweets)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432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Below the 46% baseline of always guessing the top label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Macro-F1 ≈ 0.38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Factual alerts misread as bullish or bearish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Confusion matrix (rows = human, columns = model)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Negative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Neutral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Positive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21488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Negative</a:t>
            </a:r>
            <a:endParaRPr lang="en-US" sz="1100" dirty="0"/>
          </a:p>
        </p:txBody>
      </p:sp>
      <p:sp>
        <p:nvSpPr>
          <p:cNvPr id="13" name="Cell 00"/>
          <p:cNvSpPr/>
          <p:nvPr/>
        </p:nvSpPr>
        <p:spPr>
          <a:xfrm>
            <a:off x="5605272" y="2148840"/>
            <a:ext cx="950976" cy="539496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1"/>
          <p:cNvSpPr txBox="1"/>
          <p:nvPr/>
        </p:nvSpPr>
        <p:spPr>
          <a:xfrm>
            <a:off x="5605272" y="2148840"/>
            <a:ext cx="9509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Cell 01"/>
          <p:cNvSpPr/>
          <p:nvPr/>
        </p:nvSpPr>
        <p:spPr>
          <a:xfrm>
            <a:off x="6611112" y="2148840"/>
            <a:ext cx="950976" cy="539496"/>
          </a:xfrm>
          <a:prstGeom prst="rect">
            <a:avLst/>
          </a:prstGeom>
          <a:solidFill>
            <a:srgbClr val="E3E7E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3"/>
          <p:cNvSpPr txBox="1"/>
          <p:nvPr/>
        </p:nvSpPr>
        <p:spPr>
          <a:xfrm>
            <a:off x="6611112" y="2148840"/>
            <a:ext cx="9509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2A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Cell 02"/>
          <p:cNvSpPr/>
          <p:nvPr/>
        </p:nvSpPr>
        <p:spPr>
          <a:xfrm>
            <a:off x="7616952" y="2148840"/>
            <a:ext cx="950976" cy="539496"/>
          </a:xfrm>
          <a:prstGeom prst="rect">
            <a:avLst/>
          </a:prstGeom>
          <a:solidFill>
            <a:srgbClr val="E3E7E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5"/>
          <p:cNvSpPr txBox="1"/>
          <p:nvPr/>
        </p:nvSpPr>
        <p:spPr>
          <a:xfrm>
            <a:off x="7616952" y="2148840"/>
            <a:ext cx="9509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2A"/>
                </a:solidFill>
              </a:rPr>
              <a:t>5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4709160" y="27432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Neutral</a:t>
            </a:r>
            <a:endParaRPr lang="en-US" sz="1100" dirty="0"/>
          </a:p>
        </p:txBody>
      </p:sp>
      <p:sp>
        <p:nvSpPr>
          <p:cNvPr id="20" name="Cell 10"/>
          <p:cNvSpPr/>
          <p:nvPr/>
        </p:nvSpPr>
        <p:spPr>
          <a:xfrm>
            <a:off x="5605272" y="2743200"/>
            <a:ext cx="950976" cy="539496"/>
          </a:xfrm>
          <a:prstGeom prst="rect">
            <a:avLst/>
          </a:prstGeom>
          <a:solidFill>
            <a:srgbClr val="E3E7E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8"/>
          <p:cNvSpPr txBox="1"/>
          <p:nvPr/>
        </p:nvSpPr>
        <p:spPr>
          <a:xfrm>
            <a:off x="5605272" y="2743200"/>
            <a:ext cx="9509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2A"/>
                </a:solidFill>
              </a:rPr>
              <a:t>2</a:t>
            </a:r>
            <a:endParaRPr lang="en-US" sz="2000" dirty="0"/>
          </a:p>
        </p:txBody>
      </p:sp>
      <p:sp>
        <p:nvSpPr>
          <p:cNvPr id="22" name="Cell 11"/>
          <p:cNvSpPr/>
          <p:nvPr/>
        </p:nvSpPr>
        <p:spPr>
          <a:xfrm>
            <a:off x="6611112" y="2743200"/>
            <a:ext cx="950976" cy="539496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0"/>
          <p:cNvSpPr txBox="1"/>
          <p:nvPr/>
        </p:nvSpPr>
        <p:spPr>
          <a:xfrm>
            <a:off x="6611112" y="2743200"/>
            <a:ext cx="9509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15</a:t>
            </a:r>
            <a:endParaRPr lang="en-US" sz="2000" dirty="0"/>
          </a:p>
        </p:txBody>
      </p:sp>
      <p:sp>
        <p:nvSpPr>
          <p:cNvPr id="24" name="Cell 12"/>
          <p:cNvSpPr/>
          <p:nvPr/>
        </p:nvSpPr>
        <p:spPr>
          <a:xfrm>
            <a:off x="7616952" y="2743200"/>
            <a:ext cx="950976" cy="539496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Text 22"/>
          <p:cNvSpPr txBox="1"/>
          <p:nvPr/>
        </p:nvSpPr>
        <p:spPr>
          <a:xfrm>
            <a:off x="7616952" y="2743200"/>
            <a:ext cx="9509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26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4709160" y="33375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Positive</a:t>
            </a:r>
            <a:endParaRPr lang="en-US" sz="1100" dirty="0"/>
          </a:p>
        </p:txBody>
      </p:sp>
      <p:sp>
        <p:nvSpPr>
          <p:cNvPr id="27" name="Cell 20"/>
          <p:cNvSpPr/>
          <p:nvPr/>
        </p:nvSpPr>
        <p:spPr>
          <a:xfrm>
            <a:off x="5605272" y="3337560"/>
            <a:ext cx="950976" cy="539496"/>
          </a:xfrm>
          <a:prstGeom prst="rect">
            <a:avLst/>
          </a:prstGeom>
          <a:solidFill>
            <a:srgbClr val="E3E7E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Text 25"/>
          <p:cNvSpPr txBox="1"/>
          <p:nvPr/>
        </p:nvSpPr>
        <p:spPr>
          <a:xfrm>
            <a:off x="5605272" y="3337560"/>
            <a:ext cx="9509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2A"/>
                </a:solidFill>
              </a:rPr>
              <a:t>1</a:t>
            </a:r>
            <a:endParaRPr lang="en-US" sz="2000" dirty="0"/>
          </a:p>
        </p:txBody>
      </p:sp>
      <p:sp>
        <p:nvSpPr>
          <p:cNvPr id="29" name="Cell 21"/>
          <p:cNvSpPr/>
          <p:nvPr/>
        </p:nvSpPr>
        <p:spPr>
          <a:xfrm>
            <a:off x="6611112" y="3337560"/>
            <a:ext cx="950976" cy="539496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Text 27"/>
          <p:cNvSpPr txBox="1"/>
          <p:nvPr/>
        </p:nvSpPr>
        <p:spPr>
          <a:xfrm>
            <a:off x="6611112" y="3337560"/>
            <a:ext cx="9509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19</a:t>
            </a:r>
            <a:endParaRPr lang="en-US" sz="2000" dirty="0"/>
          </a:p>
        </p:txBody>
      </p:sp>
      <p:sp>
        <p:nvSpPr>
          <p:cNvPr id="31" name="Cell 22"/>
          <p:cNvSpPr/>
          <p:nvPr/>
        </p:nvSpPr>
        <p:spPr>
          <a:xfrm>
            <a:off x="7616952" y="3337560"/>
            <a:ext cx="950976" cy="539496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Text 29"/>
          <p:cNvSpPr txBox="1"/>
          <p:nvPr/>
        </p:nvSpPr>
        <p:spPr>
          <a:xfrm>
            <a:off x="7616952" y="3337560"/>
            <a:ext cx="9509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26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4754880" y="4023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Orange = correct. 26 of 43 neutral tweets were labelled positive; only 2 of 11 negative tweets were caught.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AD44B-6BBE-84CF-4513-D2ED09545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3382C2-823B-D314-B0DA-6AD5E257E9B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Forecasting next-day movement, tested fairly</a:t>
            </a:r>
            <a:endParaRPr lang="en-US" sz="3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105E5A5-8EBC-DCC2-577D-149D0C1079C9}"/>
              </a:ext>
            </a:extLst>
          </p:cNvPr>
          <p:cNvGrpSpPr/>
          <p:nvPr/>
        </p:nvGrpSpPr>
        <p:grpSpPr>
          <a:xfrm>
            <a:off x="237744" y="4142994"/>
            <a:ext cx="8369808" cy="572262"/>
            <a:chOff x="365760" y="4057650"/>
            <a:chExt cx="8369808" cy="57226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CF86B5D-43F4-F426-54E0-4D9459558488}"/>
                </a:ext>
              </a:extLst>
            </p:cNvPr>
            <p:cNvGrpSpPr/>
            <p:nvPr/>
          </p:nvGrpSpPr>
          <p:grpSpPr>
            <a:xfrm>
              <a:off x="365760" y="4081272"/>
              <a:ext cx="6723888" cy="548640"/>
              <a:chOff x="365760" y="4081272"/>
              <a:chExt cx="6723888" cy="548640"/>
            </a:xfrm>
          </p:grpSpPr>
          <p:sp>
            <p:nvSpPr>
              <p:cNvPr id="17" name="Train bar">
                <a:extLst>
                  <a:ext uri="{FF2B5EF4-FFF2-40B4-BE49-F238E27FC236}">
                    <a16:creationId xmlns:a16="http://schemas.microsoft.com/office/drawing/2014/main" id="{8904DBCA-D2EC-EF64-8D8A-79E4E7300DA2}"/>
                  </a:ext>
                </a:extLst>
              </p:cNvPr>
              <p:cNvSpPr/>
              <p:nvPr/>
            </p:nvSpPr>
            <p:spPr>
              <a:xfrm>
                <a:off x="505968" y="4081272"/>
                <a:ext cx="6583680" cy="548640"/>
              </a:xfrm>
              <a:prstGeom prst="roundRect">
                <a:avLst>
                  <a:gd name="adj" fmla="val 13333"/>
                </a:avLst>
              </a:prstGeom>
              <a:solidFill>
                <a:schemeClr val="accent2"/>
              </a:solidFill>
              <a:ln/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9" name="Text 16">
                <a:extLst>
                  <a:ext uri="{FF2B5EF4-FFF2-40B4-BE49-F238E27FC236}">
                    <a16:creationId xmlns:a16="http://schemas.microsoft.com/office/drawing/2014/main" id="{8436BC56-A9A0-3DB6-1BE2-CE338C955CC4}"/>
                  </a:ext>
                </a:extLst>
              </p:cNvPr>
              <p:cNvSpPr txBox="1"/>
              <p:nvPr/>
            </p:nvSpPr>
            <p:spPr>
              <a:xfrm>
                <a:off x="365760" y="4081272"/>
                <a:ext cx="658368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chemeClr val="bg1"/>
                    </a:solidFill>
                  </a:rPr>
                  <a:t>Train: 160 days (6 Mar – 19 Nov 2025)</a:t>
                </a:r>
                <a:endParaRPr lang="en-US" sz="1400" dirty="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EC14BBC-9FD1-1B0A-DA66-425084956B5C}"/>
                </a:ext>
              </a:extLst>
            </p:cNvPr>
            <p:cNvGrpSpPr/>
            <p:nvPr/>
          </p:nvGrpSpPr>
          <p:grpSpPr>
            <a:xfrm>
              <a:off x="7181088" y="4057650"/>
              <a:ext cx="1554480" cy="572262"/>
              <a:chOff x="7181088" y="4057650"/>
              <a:chExt cx="1554480" cy="572262"/>
            </a:xfrm>
          </p:grpSpPr>
          <p:sp>
            <p:nvSpPr>
              <p:cNvPr id="18" name="Test bar">
                <a:extLst>
                  <a:ext uri="{FF2B5EF4-FFF2-40B4-BE49-F238E27FC236}">
                    <a16:creationId xmlns:a16="http://schemas.microsoft.com/office/drawing/2014/main" id="{AC74C8E9-6CD0-AEE7-C30C-8400E30BF0AA}"/>
                  </a:ext>
                </a:extLst>
              </p:cNvPr>
              <p:cNvSpPr/>
              <p:nvPr/>
            </p:nvSpPr>
            <p:spPr>
              <a:xfrm>
                <a:off x="7181088" y="4081272"/>
                <a:ext cx="1554480" cy="548640"/>
              </a:xfrm>
              <a:prstGeom prst="roundRect">
                <a:avLst>
                  <a:gd name="adj" fmla="val 13333"/>
                </a:avLst>
              </a:prstGeom>
              <a:solidFill>
                <a:schemeClr val="accent1"/>
              </a:solidFill>
              <a:ln/>
            </p:spPr>
            <p:txBody>
              <a:bodyPr/>
              <a:lstStyle/>
              <a:p>
                <a:endParaRPr lang="en-ZA" dirty="0"/>
              </a:p>
            </p:txBody>
          </p:sp>
          <p:sp>
            <p:nvSpPr>
              <p:cNvPr id="20" name="Text 17">
                <a:extLst>
                  <a:ext uri="{FF2B5EF4-FFF2-40B4-BE49-F238E27FC236}">
                    <a16:creationId xmlns:a16="http://schemas.microsoft.com/office/drawing/2014/main" id="{8BBA81EE-29AA-0391-48F6-EC6823DFA5F8}"/>
                  </a:ext>
                </a:extLst>
              </p:cNvPr>
              <p:cNvSpPr txBox="1"/>
              <p:nvPr/>
            </p:nvSpPr>
            <p:spPr>
              <a:xfrm>
                <a:off x="7181088" y="4057650"/>
                <a:ext cx="155448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chemeClr val="bg1"/>
                    </a:solidFill>
                  </a:rPr>
                  <a:t>Test: 40 days</a:t>
                </a:r>
                <a:endParaRPr lang="en-US" sz="1400" dirty="0"/>
              </a:p>
            </p:txBody>
          </p:sp>
        </p:grpSp>
      </p:grp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06EDFBC-DA91-7760-A39B-3A02A717870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39AC33-DC4A-EF36-0097-DA483B3F9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84185"/>
              </p:ext>
            </p:extLst>
          </p:nvPr>
        </p:nvGraphicFramePr>
        <p:xfrm>
          <a:off x="457200" y="1258530"/>
          <a:ext cx="8369809" cy="2067132"/>
        </p:xfrm>
        <a:graphic>
          <a:graphicData uri="http://schemas.openxmlformats.org/drawingml/2006/table">
            <a:tbl>
              <a:tblPr/>
              <a:tblGrid>
                <a:gridCol w="2886457">
                  <a:extLst>
                    <a:ext uri="{9D8B030D-6E8A-4147-A177-3AD203B41FA5}">
                      <a16:colId xmlns:a16="http://schemas.microsoft.com/office/drawing/2014/main" val="112637336"/>
                    </a:ext>
                  </a:extLst>
                </a:gridCol>
                <a:gridCol w="3507147">
                  <a:extLst>
                    <a:ext uri="{9D8B030D-6E8A-4147-A177-3AD203B41FA5}">
                      <a16:colId xmlns:a16="http://schemas.microsoft.com/office/drawing/2014/main" val="3833501137"/>
                    </a:ext>
                  </a:extLst>
                </a:gridCol>
                <a:gridCol w="1976205">
                  <a:extLst>
                    <a:ext uri="{9D8B030D-6E8A-4147-A177-3AD203B41FA5}">
                      <a16:colId xmlns:a16="http://schemas.microsoft.com/office/drawing/2014/main" val="1139406294"/>
                    </a:ext>
                  </a:extLst>
                </a:gridCol>
              </a:tblGrid>
              <a:tr h="335106"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Input group</a:t>
                      </a:r>
                    </a:p>
                  </a:txBody>
                  <a:tcPr anchor="ctr">
                    <a:solidFill>
                      <a:srgbClr val="0C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Variables</a:t>
                      </a:r>
                    </a:p>
                  </a:txBody>
                  <a:tcPr anchor="ctr">
                    <a:solidFill>
                      <a:srgbClr val="0C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Purpose</a:t>
                      </a:r>
                    </a:p>
                  </a:txBody>
                  <a:tcPr anchor="ctr">
                    <a:solidFill>
                      <a:srgbClr val="0C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694892"/>
                  </a:ext>
                </a:extLst>
              </a:tr>
              <a:tr h="558228"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033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Market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33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Signed return and absolute return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033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Market information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775456"/>
                  </a:ext>
                </a:extLst>
              </a:tr>
              <a:tr h="607837"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033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Market + volume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33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Market inputs and log full tweet count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033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Activity control</a:t>
                      </a:r>
                    </a:p>
                  </a:txBody>
                  <a:tcPr anchor="ctr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012298"/>
                  </a:ext>
                </a:extLst>
              </a:tr>
              <a:tr h="546737"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033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Market + volume + sentiment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033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Add mean polarity and class shares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0334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Incremental sentiment 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1880050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A649CA54-DDAE-88BA-3E88-BBF3336F85BE}"/>
              </a:ext>
            </a:extLst>
          </p:cNvPr>
          <p:cNvSpPr txBox="1"/>
          <p:nvPr/>
        </p:nvSpPr>
        <p:spPr>
          <a:xfrm>
            <a:off x="387095" y="3484804"/>
            <a:ext cx="6993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chemeClr val="tx1"/>
                </a:solidFill>
              </a:rPr>
              <a:t>Each group is fitted with linear regression and random forest, and compared with three simple benchmarks (training mean, median, persistence).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997518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Simple regression wins; sentiment doesn't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43000"/>
          <a:ext cx="53949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sult card 1"/>
          <p:cNvSpPr/>
          <p:nvPr/>
        </p:nvSpPr>
        <p:spPr>
          <a:xfrm>
            <a:off x="6035040" y="128016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2"/>
          <p:cNvSpPr txBox="1"/>
          <p:nvPr/>
        </p:nvSpPr>
        <p:spPr>
          <a:xfrm>
            <a:off x="6217920" y="12801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1.134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7269480" y="1280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Best MAE: market-only regression</a:t>
            </a:r>
            <a:endParaRPr lang="en-US" sz="1200" dirty="0"/>
          </a:p>
        </p:txBody>
      </p:sp>
      <p:sp>
        <p:nvSpPr>
          <p:cNvPr id="8" name="Result card 2"/>
          <p:cNvSpPr/>
          <p:nvPr/>
        </p:nvSpPr>
        <p:spPr>
          <a:xfrm>
            <a:off x="6035040" y="233172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5"/>
          <p:cNvSpPr txBox="1"/>
          <p:nvPr/>
        </p:nvSpPr>
        <p:spPr>
          <a:xfrm>
            <a:off x="6217920" y="23317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1.594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269480" y="23317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Best RMSE: regression + volume</a:t>
            </a:r>
            <a:endParaRPr lang="en-US" sz="1200" dirty="0"/>
          </a:p>
        </p:txBody>
      </p:sp>
      <p:sp>
        <p:nvSpPr>
          <p:cNvPr id="11" name="Result card 3"/>
          <p:cNvSpPr/>
          <p:nvPr/>
        </p:nvSpPr>
        <p:spPr>
          <a:xfrm>
            <a:off x="6035040" y="338328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8"/>
          <p:cNvSpPr txBox="1"/>
          <p:nvPr/>
        </p:nvSpPr>
        <p:spPr>
          <a:xfrm>
            <a:off x="6217920" y="33832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1.183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7269480" y="3383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Training-mean benchmark MAE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Sentiment's gain is small and not consistent</a:t>
            </a:r>
            <a:endParaRPr lang="en-US" sz="3000" dirty="0"/>
          </a:p>
        </p:txBody>
      </p:sp>
      <p:sp>
        <p:nvSpPr>
          <p:cNvPr id="4" name="Incremental card 1"/>
          <p:cNvSpPr/>
          <p:nvPr/>
        </p:nvSpPr>
        <p:spPr>
          <a:xfrm>
            <a:off x="457200" y="1280160"/>
            <a:ext cx="4023360" cy="210312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 txBox="1"/>
          <p:nvPr/>
        </p:nvSpPr>
        <p:spPr>
          <a:xfrm>
            <a:off x="73152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74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+5.62%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MAE change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1874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+0.04%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RMSE change</a:t>
            </a:r>
            <a:endParaRPr lang="en-US" sz="1200" dirty="0"/>
          </a:p>
        </p:txBody>
      </p:sp>
      <p:sp>
        <p:nvSpPr>
          <p:cNvPr id="10" name="Incremental card 2"/>
          <p:cNvSpPr/>
          <p:nvPr/>
        </p:nvSpPr>
        <p:spPr>
          <a:xfrm>
            <a:off x="4663440" y="1280160"/>
            <a:ext cx="40233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 txBox="1"/>
          <p:nvPr/>
        </p:nvSpPr>
        <p:spPr>
          <a:xfrm>
            <a:off x="493776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1874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−0.44%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MAE change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1874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−0.04%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RMSE change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Positive = lower error after adding sentiment (vs market + volume).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Correlation with next-day movement:  log tweet volume −0.219  ·  mean polarity −0.019. Every model badly missed the largest price move.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Conclusions</a:t>
            </a:r>
            <a:endParaRPr lang="en-US" sz="3000" dirty="0"/>
          </a:p>
        </p:txBody>
      </p:sp>
      <p:sp>
        <p:nvSpPr>
          <p:cNvPr id="4" name="Conclusion card 1"/>
          <p:cNvSpPr/>
          <p:nvPr/>
        </p:nvSpPr>
        <p:spPr>
          <a:xfrm>
            <a:off x="45720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 txBox="1"/>
          <p:nvPr/>
        </p:nvSpPr>
        <p:spPr>
          <a:xfrm>
            <a:off x="685800" y="1554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1031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NMF is a useful descriptive tool: trading talk, wider crypto projects, promotion and bot alerts.</a:t>
            </a:r>
            <a:endParaRPr lang="en-US" sz="1400" dirty="0"/>
          </a:p>
        </p:txBody>
      </p:sp>
      <p:sp>
        <p:nvSpPr>
          <p:cNvPr id="7" name="Conclusion card 2"/>
          <p:cNvSpPr/>
          <p:nvPr/>
        </p:nvSpPr>
        <p:spPr>
          <a:xfrm>
            <a:off x="329184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 txBox="1"/>
          <p:nvPr/>
        </p:nvSpPr>
        <p:spPr>
          <a:xfrm>
            <a:off x="3520440" y="1554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520440" y="21031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Not a consistent forecasting gain. It helps one model on one error measure.</a:t>
            </a:r>
            <a:endParaRPr lang="en-US" sz="1400" dirty="0"/>
          </a:p>
        </p:txBody>
      </p:sp>
      <p:sp>
        <p:nvSpPr>
          <p:cNvPr id="10" name="Conclusion card 3"/>
          <p:cNvSpPr/>
          <p:nvPr/>
        </p:nvSpPr>
        <p:spPr>
          <a:xfrm>
            <a:off x="612648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 txBox="1"/>
          <p:nvPr/>
        </p:nvSpPr>
        <p:spPr>
          <a:xfrm>
            <a:off x="6355080" y="1554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21031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Results are associations, not causal or operational claims.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bg2"/>
                </a:solidFill>
              </a:rPr>
              <a:t>Market-based models remain the provisional benchmark.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Limitations and next steps</a:t>
            </a:r>
            <a:endParaRPr lang="en-US" sz="3000" dirty="0"/>
          </a:p>
        </p:txBody>
      </p:sp>
      <p:sp>
        <p:nvSpPr>
          <p:cNvPr id="4" name="Limitations card"/>
          <p:cNvSpPr/>
          <p:nvPr/>
        </p:nvSpPr>
        <p:spPr>
          <a:xfrm>
            <a:off x="457200" y="1188720"/>
            <a:ext cx="40233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Unreliable timestamps (2021–22 references)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data on 161 of 362 days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Sampled, not census,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43% sentiment accuracy, one reviewer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40 test days, one split</a:t>
            </a:r>
            <a:endParaRPr lang="en-US" sz="1400" dirty="0"/>
          </a:p>
        </p:txBody>
      </p:sp>
      <p:sp>
        <p:nvSpPr>
          <p:cNvPr id="7" name="Next steps card"/>
          <p:cNvSpPr/>
          <p:nvPr/>
        </p:nvSpPr>
        <p:spPr>
          <a:xfrm>
            <a:off x="4663440" y="1188720"/>
            <a:ext cx="4023360" cy="2926080"/>
          </a:xfrm>
          <a:prstGeom prst="roundRect">
            <a:avLst>
              <a:gd name="adj" fmla="val 375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Verify source timestamps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Expand manual review; improve sentiment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Use expanding-window testing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Try rolling standard deviation as target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Examine errors around large moves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tcoin Text Analysis">
  <a:themeElements>
    <a:clrScheme name="Bitcoin Text Analysis">
      <a:dk1>
        <a:srgbClr val="1B1F2A"/>
      </a:dk1>
      <a:lt1>
        <a:srgbClr val="FFFFFF"/>
      </a:lt1>
      <a:dk2>
        <a:srgbClr val="0F172A"/>
      </a:dk2>
      <a:lt2>
        <a:srgbClr val="F1F3F6"/>
      </a:lt2>
      <a:accent1>
        <a:srgbClr val="F7931A"/>
      </a:accent1>
      <a:accent2>
        <a:srgbClr val="1F3A5F"/>
      </a:accent2>
      <a:accent3>
        <a:srgbClr val="2A9D8F"/>
      </a:accent3>
      <a:accent4>
        <a:srgbClr val="8A94A6"/>
      </a:accent4>
      <a:accent5>
        <a:srgbClr val="D1495B"/>
      </a:accent5>
      <a:accent6>
        <a:srgbClr val="4C6EF5"/>
      </a:accent6>
      <a:hlink>
        <a:srgbClr val="1F3A5F"/>
      </a:hlink>
      <a:folHlink>
        <a:srgbClr val="8A94A6"/>
      </a:folHlink>
    </a:clrScheme>
    <a:fontScheme name="Bitcoin Text Analys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1056</Words>
  <Application>Microsoft Office PowerPoint</Application>
  <PresentationFormat>On-screen Show (16:9)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Cambria</vt:lpstr>
      <vt:lpstr>DejaVu Sans</vt:lpstr>
      <vt:lpstr>Bitcoin Text Analysis</vt:lpstr>
      <vt:lpstr>ChatGPT</vt:lpstr>
      <vt:lpstr>PowerPoint Presentation</vt:lpstr>
      <vt:lpstr>Two questions, two uses of text</vt:lpstr>
      <vt:lpstr>One corpus, several different samples</vt:lpstr>
      <vt:lpstr>NMF beat LDA, so nine NMF topics were used</vt:lpstr>
      <vt:lpstr>Trading dominates the fitted topic sample</vt:lpstr>
      <vt:lpstr>Topic mix shifted over the collection period</vt:lpstr>
      <vt:lpstr>The sentiment model failed manual validation</vt:lpstr>
      <vt:lpstr>Forecasting next-day movement, tested fairly</vt:lpstr>
      <vt:lpstr>Simple regression wins; sentiment doesn't</vt:lpstr>
      <vt:lpstr>Sentiment's gain is small and not consistent</vt:lpstr>
      <vt:lpstr>Conclusions</vt:lpstr>
      <vt:lpstr>Limitations and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Modelling, Sentiment Polarity and Bitcoin Volatility</dc:title>
  <dc:subject>PptxGenJS Presentation</dc:subject>
  <dc:creator>rs.seekoei@fsschoolsportal.gov.za</dc:creator>
  <cp:lastModifiedBy>R Seekoei</cp:lastModifiedBy>
  <cp:revision>2</cp:revision>
  <dcterms:created xsi:type="dcterms:W3CDTF">2026-10-03T07:12:38Z</dcterms:created>
  <dcterms:modified xsi:type="dcterms:W3CDTF">2026-10-05T04:07:37Z</dcterms:modified>
</cp:coreProperties>
</file>